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6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GB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GB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GB" b="1" dirty="0"/>
              <a:t>END SEMESTER PRACTICAL EXAMINATION- NOV / DEC 2025</a:t>
            </a:r>
            <a:endParaRPr lang="en-GB" dirty="0"/>
          </a:p>
          <a:p>
            <a:pPr marL="0" lvl="0" indent="0" algn="ctr">
              <a:buSzPts val="2800"/>
              <a:buNone/>
            </a:pPr>
            <a:r>
              <a:rPr lang="en-GB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Batch No.:04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Date:29/11/2025</a:t>
            </a:r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Session:</a:t>
            </a:r>
            <a:endParaRPr lang="en-GB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304800"/>
            <a:ext cx="12119100" cy="168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TITLE :</a:t>
            </a:r>
            <a:r>
              <a:rPr lang="en-IN" b="1" spc="-1" dirty="0">
                <a:solidFill>
                  <a:srgbClr val="000000"/>
                </a:solidFill>
                <a:latin typeface="Arial Narrow"/>
                <a:ea typeface="Arial Narrow"/>
              </a:rPr>
              <a:t> </a:t>
            </a:r>
            <a:r>
              <a:rPr lang="en-IN" sz="3600" b="1" spc="-1" dirty="0">
                <a:solidFill>
                  <a:srgbClr val="000000"/>
                </a:solidFill>
                <a:latin typeface="Arial Narrow"/>
                <a:ea typeface="Arial Narrow"/>
              </a:rPr>
              <a:t>TEXT EXTRACTION AND ENCHANCEMENT SYSTEM ARCHITECTURE WITH EASY OCR AND OPEN CV</a:t>
            </a:r>
            <a:endParaRPr sz="36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352926" y="3594414"/>
            <a:ext cx="5743073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1001"/>
              </a:spcBef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 </a:t>
            </a:r>
            <a:b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IN" sz="2400" b="1" spc="-1" dirty="0">
                <a:solidFill>
                  <a:srgbClr val="000000"/>
                </a:solidFill>
                <a:latin typeface="Arial Narrow"/>
                <a:ea typeface="Times New Roman"/>
              </a:rPr>
              <a:t> Mrs. VALLI PRIYADHARSHINI.K, M.E, (PhD),</a:t>
            </a:r>
          </a:p>
          <a:p>
            <a:pPr marL="114300" indent="0">
              <a:spcBef>
                <a:spcPts val="1001"/>
              </a:spcBef>
              <a:buNone/>
            </a:pPr>
            <a:r>
              <a:rPr lang="en-IN" sz="2400" b="1" spc="-1" dirty="0">
                <a:solidFill>
                  <a:srgbClr val="000000"/>
                </a:solidFill>
                <a:latin typeface="Arial Narrow"/>
              </a:rPr>
              <a:t> AP/CSE, KRCT</a:t>
            </a:r>
            <a:endParaRPr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5967663" y="3631450"/>
            <a:ext cx="6224337" cy="2223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1001"/>
              </a:spcBef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  <a:b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6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2400" b="1" spc="-1" dirty="0">
                <a:solidFill>
                  <a:srgbClr val="000000"/>
                </a:solidFill>
                <a:latin typeface="Arial Narrow"/>
                <a:ea typeface="Times New Roman"/>
              </a:rPr>
              <a:t>SESHANTH.B [811722104137]</a:t>
            </a:r>
            <a:endParaRPr lang="en-US" sz="2400" spc="-1" dirty="0">
              <a:solidFill>
                <a:srgbClr val="000000"/>
              </a:solidFill>
              <a:latin typeface="Arial"/>
            </a:endParaRPr>
          </a:p>
          <a:p>
            <a:pPr marL="114300" indent="0">
              <a:spcBef>
                <a:spcPts val="1001"/>
              </a:spcBef>
              <a:buNone/>
            </a:pPr>
            <a:r>
              <a:rPr lang="en-US" sz="2400" b="1" spc="-1" dirty="0">
                <a:solidFill>
                  <a:srgbClr val="000000"/>
                </a:solidFill>
                <a:latin typeface="Arial Narrow"/>
                <a:ea typeface="Times New Roman"/>
              </a:rPr>
              <a:t>             SHAM JOSEPHRAJ.W [811722104140]</a:t>
            </a:r>
            <a:endParaRPr lang="en-US" sz="2400" spc="-1" dirty="0">
              <a:solidFill>
                <a:srgbClr val="000000"/>
              </a:solidFill>
              <a:latin typeface="Arial"/>
            </a:endParaRPr>
          </a:p>
          <a:p>
            <a:pPr marL="114300" indent="0">
              <a:spcBef>
                <a:spcPts val="1001"/>
              </a:spcBef>
              <a:buNone/>
            </a:pPr>
            <a:r>
              <a:rPr lang="en-US" sz="2400" b="1" spc="-1" dirty="0">
                <a:solidFill>
                  <a:srgbClr val="000000"/>
                </a:solidFill>
                <a:latin typeface="Arial Narrow"/>
                <a:ea typeface="Times New Roman"/>
              </a:rPr>
              <a:t>             YOGESH WARAN.T.K [811722104189</a:t>
            </a:r>
            <a:r>
              <a:rPr lang="en-US" sz="2600" b="1" spc="-1" dirty="0">
                <a:solidFill>
                  <a:srgbClr val="000000"/>
                </a:solidFill>
                <a:latin typeface="Arial Narrow"/>
                <a:ea typeface="Times New Roman"/>
              </a:rPr>
              <a:t>]</a:t>
            </a:r>
            <a:endParaRPr lang="en-US" sz="2600" spc="-1" dirty="0">
              <a:solidFill>
                <a:srgbClr val="000000"/>
              </a:solidFill>
              <a:latin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913245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1. To build a tool that can clean and improve images.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2. using OpenCV and extract text from them using </a:t>
            </a:r>
            <a:r>
              <a:rPr lang="en-GB" dirty="0" err="1">
                <a:latin typeface="Arial Narrow"/>
                <a:ea typeface="Arial Narrow"/>
                <a:cs typeface="Arial Narrow"/>
                <a:sym typeface="Arial Narrow"/>
              </a:rPr>
              <a:t>EasyOCR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3. Helps in reading text clearly making the text more accurate.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5208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GB" dirty="0">
                <a:latin typeface="Arial Narrow" panose="020B0606020202030204" pitchFamily="34" charset="0"/>
              </a:rPr>
              <a:t>1.</a:t>
            </a:r>
            <a:r>
              <a:rPr lang="en-GB" spc="-1" dirty="0">
                <a:solidFill>
                  <a:srgbClr val="000000"/>
                </a:solidFill>
                <a:latin typeface="Arial Narrow"/>
              </a:rPr>
              <a:t> To enhance images by removing noise.</a:t>
            </a:r>
            <a:endParaRPr lang="en-GB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GB" dirty="0">
                <a:latin typeface="Arial Narrow" panose="020B0606020202030204" pitchFamily="34" charset="0"/>
              </a:rPr>
              <a:t>2.</a:t>
            </a:r>
            <a:r>
              <a:rPr lang="en-GB" spc="-1" dirty="0">
                <a:solidFill>
                  <a:srgbClr val="000000"/>
                </a:solidFill>
                <a:latin typeface="Arial Narrow"/>
              </a:rPr>
              <a:t> adjusting brightness/contrast.</a:t>
            </a:r>
            <a:endParaRPr lang="en-GB" dirty="0">
              <a:latin typeface="Arial Narrow" panose="020B0606020202030204" pitchFamily="34" charset="0"/>
            </a:endParaRPr>
          </a:p>
          <a:p>
            <a:pPr marL="0" indent="0">
              <a:buSzPts val="2800"/>
              <a:buNone/>
            </a:pPr>
            <a:r>
              <a:rPr lang="en-GB" dirty="0">
                <a:latin typeface="Arial Narrow" panose="020B0606020202030204" pitchFamily="34" charset="0"/>
              </a:rPr>
              <a:t>3.</a:t>
            </a:r>
            <a:r>
              <a:rPr lang="en-GB" spc="-1" dirty="0">
                <a:solidFill>
                  <a:srgbClr val="000000"/>
                </a:solidFill>
                <a:latin typeface="Arial Narrow"/>
              </a:rPr>
              <a:t> sharpening edges before text recognition.</a:t>
            </a:r>
            <a:endParaRPr lang="en-GB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GB" dirty="0">
                <a:latin typeface="Arial Narrow" panose="020B0606020202030204" pitchFamily="34" charset="0"/>
              </a:rPr>
              <a:t>4.</a:t>
            </a:r>
            <a:r>
              <a:rPr lang="en-GB" spc="-1" dirty="0">
                <a:solidFill>
                  <a:srgbClr val="000000"/>
                </a:solidFill>
                <a:latin typeface="Arial Narrow"/>
              </a:rPr>
              <a:t> To extract the text accurately.</a:t>
            </a:r>
            <a:endParaRPr lang="en-GB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GB" dirty="0">
                <a:latin typeface="Arial Narrow" panose="020B0606020202030204" pitchFamily="34" charset="0"/>
              </a:rPr>
              <a:t>5.</a:t>
            </a:r>
            <a:r>
              <a:rPr lang="en-GB" spc="-1" dirty="0">
                <a:solidFill>
                  <a:srgbClr val="000000"/>
                </a:solidFill>
                <a:latin typeface="Arial Narrow"/>
              </a:rPr>
              <a:t> creating a system useful for document scanning, digital archives, data collection, and accessibility.</a:t>
            </a:r>
            <a:endParaRPr lang="en-GB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029092150"/>
              </p:ext>
            </p:extLst>
          </p:nvPr>
        </p:nvGraphicFramePr>
        <p:xfrm>
          <a:off x="0" y="707999"/>
          <a:ext cx="12192001" cy="597412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9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YEAR OF</a:t>
                      </a:r>
                      <a:br>
                        <a:rPr lang="en-GB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</a:br>
                      <a:r>
                        <a:rPr lang="en-GB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PUBLISH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b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</a:b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PRO’S &amp; CORN’S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06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"/>
                        </a:rPr>
                        <a:t>Mobile-Based OCR for Indian Scripts (Survey)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latin typeface="Arial"/>
                        </a:rPr>
                        <a:t>Survey (Multiple Indian Researchers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"/>
                        </a:rPr>
                        <a:t>2024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"/>
                        </a:rPr>
                        <a:t>Neural Networks, OCR Modules, Translation &amp; TTS (Voice Output)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PROS: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Inclusive,accessible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.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CORNS: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Outdated,inaccurate</a:t>
                      </a:r>
                      <a:r>
                        <a:rPr lang="en-IN" sz="24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.</a:t>
                      </a:r>
                      <a:endParaRPr lang="en-IN" sz="24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2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Real-Time Text Detection and Recognition from Video and Webcam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strike="noStrike" spc="-1" dirty="0">
                          <a:latin typeface="Arial"/>
                        </a:rPr>
                        <a:t>B. Avinash, </a:t>
                      </a:r>
                      <a:r>
                        <a:rPr lang="en-IN" sz="2400" b="0" strike="noStrike" spc="-1" dirty="0" err="1">
                          <a:latin typeface="Arial"/>
                        </a:rPr>
                        <a:t>Ishrath</a:t>
                      </a:r>
                      <a:r>
                        <a:rPr lang="en-IN" sz="2400" b="0" strike="noStrike" spc="-1" dirty="0">
                          <a:latin typeface="Arial"/>
                        </a:rPr>
                        <a:t> Anjum Shaik, Roohi Syed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Apr, 2024 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OpenCV EAST Text Detector, Tesseract OCR.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PROS 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Fast,Practical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.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CORNS: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Noisy,sensitive</a:t>
                      </a:r>
                      <a:r>
                        <a:rPr lang="en-IN" sz="24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.</a:t>
                      </a:r>
                      <a:endParaRPr lang="en-IN" sz="24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94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Efficient Text Extraction and Summarization using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EasyOCR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 and GPT-3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Dr. A. V. Sriharsha, Mekala Bhavana, Syamala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Tejaswee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,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Mynasaheb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 Bushra,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strike="noStrike" spc="-1" dirty="0">
                          <a:latin typeface="Arial"/>
                        </a:rPr>
                        <a:t>2019</a:t>
                      </a:r>
                      <a:endParaRPr lang="en-IN" sz="2000" b="0" strike="noStrike" spc="-1" dirty="0"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EasyOCR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 for text extraction, GPT-3 for summarization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PROS 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Accurate,Contextual</a:t>
                      </a: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.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strike="noStrike" spc="-1" dirty="0">
                          <a:solidFill>
                            <a:srgbClr val="000000"/>
                          </a:solidFill>
                          <a:latin typeface="Arial Narrow"/>
                        </a:rPr>
                        <a:t>CORNS : </a:t>
                      </a:r>
                      <a:r>
                        <a:rPr lang="en-IN" sz="2000" b="0" strike="noStrike" spc="-1" dirty="0" err="1">
                          <a:solidFill>
                            <a:srgbClr val="000000"/>
                          </a:solidFill>
                          <a:latin typeface="Arial Narrow"/>
                        </a:rPr>
                        <a:t>Costly,Heavy,Limited</a:t>
                      </a:r>
                      <a:endParaRPr lang="en-IN" sz="2000" b="0" strike="noStrike" spc="-1" dirty="0">
                        <a:solidFill>
                          <a:srgbClr val="000000"/>
                        </a:solidFill>
                        <a:latin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8CD6CCB8-492B-E363-6B27-9E1049AFE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1290637"/>
            <a:ext cx="9582150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78928" y="1176032"/>
            <a:ext cx="10787742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1.</a:t>
            </a:r>
            <a:r>
              <a:rPr lang="en-GB" sz="2800" dirty="0"/>
              <a:t> Low-Quality Images Affect Text Recognition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2.</a:t>
            </a:r>
            <a:r>
              <a:rPr lang="en-GB" sz="2800" dirty="0"/>
              <a:t> Limited Language and Script Support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3.</a:t>
            </a:r>
            <a:r>
              <a:rPr lang="en-GB" sz="2800" dirty="0"/>
              <a:t> Inaccurate Extraction from Complex Layouts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4.</a:t>
            </a:r>
            <a:r>
              <a:rPr lang="en-IN" sz="2800" dirty="0"/>
              <a:t> Hardware Dependency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5.</a:t>
            </a:r>
            <a:r>
              <a:rPr lang="en-IN" sz="2800" dirty="0"/>
              <a:t> Privacy and Security Concerns</a:t>
            </a: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74519-AB6D-A84B-D441-98827600E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05" y="924693"/>
            <a:ext cx="7433187" cy="5614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1491640"/>
            <a:ext cx="5157900" cy="488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buSzPts val="28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>
              <a:spcBef>
                <a:spcPts val="0"/>
              </a:spcBef>
              <a:buSzPts val="2800"/>
              <a:buNone/>
            </a:pP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GPU: NVIDIA RTX 3050 series or higher with 8GB VRAM or more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2.</a:t>
            </a: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CPU: Intel i7/i9 or AMD </a:t>
            </a:r>
            <a:r>
              <a:rPr lang="en-GB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Ryzen</a:t>
            </a: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7 or more with </a:t>
            </a:r>
            <a:r>
              <a:rPr lang="en-GB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atleast</a:t>
            </a: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8 cores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3.</a:t>
            </a: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RAM : 16GB or more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GB" spc="-1" dirty="0">
                <a:solidFill>
                  <a:srgbClr val="000000"/>
                </a:solidFill>
                <a:latin typeface="Times New Roman"/>
                <a:ea typeface="Times New Roman"/>
              </a:rPr>
              <a:t>   Storage : 1TB SSD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1475874"/>
            <a:ext cx="5183100" cy="474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Programming Language: Python 3.7</a:t>
            </a:r>
            <a:endParaRPr lang="en-US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2.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Libraries: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200" indent="-457200"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Deep Learning : TensorFlow 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200" indent="-457200"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 NLP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200" indent="-457200"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 EASYOCR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200" indent="-457200"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 GTTS</a:t>
            </a:r>
          </a:p>
          <a:p>
            <a:pPr marL="565200" indent="-457200"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 </a:t>
            </a:r>
            <a:r>
              <a:rPr lang="en-US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Googletrans</a:t>
            </a:r>
            <a:endParaRPr lang="en-US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3.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Operating System : Linux or Windows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</a:t>
            </a:r>
            <a:r>
              <a:rPr lang="en-IN" spc="15" dirty="0">
                <a:solidFill>
                  <a:srgbClr val="2B2C30"/>
                </a:solidFill>
                <a:latin typeface="Times New Roman"/>
                <a:ea typeface="Times New Roman"/>
              </a:rPr>
              <a:t> User Interface 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</a:t>
            </a:r>
            <a:r>
              <a:rPr lang="en-IN" spc="15" dirty="0">
                <a:solidFill>
                  <a:srgbClr val="2B2C30"/>
                </a:solidFill>
                <a:latin typeface="Times New Roman"/>
                <a:ea typeface="Times New Roman"/>
              </a:rPr>
              <a:t> Data Preprocessing Module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</a:t>
            </a:r>
            <a:r>
              <a:rPr lang="en-IN" spc="15" dirty="0">
                <a:solidFill>
                  <a:srgbClr val="2B2C30"/>
                </a:solidFill>
                <a:latin typeface="Times New Roman"/>
                <a:ea typeface="Times New Roman"/>
              </a:rPr>
              <a:t> Text Detection and Extraction Module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</a:t>
            </a:r>
            <a:r>
              <a:rPr lang="en-IN" spc="15" dirty="0">
                <a:solidFill>
                  <a:srgbClr val="2B2C30"/>
                </a:solidFill>
                <a:latin typeface="Times New Roman"/>
                <a:ea typeface="Times New Roman"/>
              </a:rPr>
              <a:t> Translation Module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5.</a:t>
            </a:r>
            <a:r>
              <a:rPr lang="en-IN" spc="15" dirty="0">
                <a:solidFill>
                  <a:srgbClr val="2B2C30"/>
                </a:solidFill>
                <a:latin typeface="Times New Roman"/>
                <a:ea typeface="Times New Roman"/>
              </a:rPr>
              <a:t> Text-to-Speech Synthesis Module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563386"/>
            <a:ext cx="62720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Shows options for the user to upload an image and select what they want to do.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Displays the results clearly on the screen after processing.</a:t>
            </a: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87B1E-DA89-5B0E-AB28-617E4E6F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248" y="745787"/>
            <a:ext cx="4776951" cy="5431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E42F22-106D-B5A1-3C24-950410F98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28" y="929640"/>
            <a:ext cx="5959365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54B506-91F7-7731-B4DD-477E01CF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892641"/>
            <a:ext cx="11247120" cy="50727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3FF248-36D9-951E-D387-FB8BC22C5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954395"/>
            <a:ext cx="10789920" cy="5013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A590FD-20F8-0ECE-B31E-DDAE488B3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066800"/>
            <a:ext cx="1089660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45115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spc="-1" dirty="0">
                <a:solidFill>
                  <a:srgbClr val="2B2C30"/>
                </a:solidFill>
                <a:latin typeface="Times New Roman"/>
                <a:ea typeface="Times New Roman"/>
              </a:rPr>
              <a:t>1. In conclusion, Text Detection and Extraction using Deep Learning Techniques with integrated features like Translation and Text-to-Speech offers a powerful solution for extracting and processing text from images or documents.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spc="-1" dirty="0">
                <a:solidFill>
                  <a:srgbClr val="2B2C30"/>
                </a:solidFill>
                <a:latin typeface="Times New Roman"/>
                <a:ea typeface="Times New Roman"/>
              </a:rPr>
              <a:t>2. This enhanced system improves accessibility, enables multilingual support, and provides seamless audio output, ensuring greater user convenience and engagement.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</a:t>
            </a:r>
            <a:r>
              <a:rPr lang="en-IN" dirty="0"/>
              <a:t> Multilingual Support Expansion:</a:t>
            </a:r>
            <a:r>
              <a:rPr lang="en-GB" dirty="0"/>
              <a:t>Integrate additional language packs and advanced translation models to support a wider range of scripts and dialects, making the system more </a:t>
            </a:r>
            <a:r>
              <a:rPr lang="en-GB"/>
              <a:t>globally accessible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</a:t>
            </a:r>
            <a:r>
              <a:rPr lang="en-IN" dirty="0"/>
              <a:t> Cloud-Based Deployment :</a:t>
            </a:r>
            <a:r>
              <a:rPr lang="en-GB" dirty="0"/>
              <a:t>Move the system to a cloud platform to allow scalable, remote access and collaborative use, reducing hardware dependency for end-users.</a:t>
            </a:r>
            <a:br>
              <a:rPr lang="en-IN" dirty="0"/>
            </a:b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673</Words>
  <Application>Microsoft Office PowerPoint</Application>
  <PresentationFormat>Widescreen</PresentationFormat>
  <Paragraphs>108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Arial Narrow</vt:lpstr>
      <vt:lpstr>Calibri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vignesh v</cp:lastModifiedBy>
  <cp:revision>7</cp:revision>
  <dcterms:modified xsi:type="dcterms:W3CDTF">2025-11-28T07:13:44Z</dcterms:modified>
</cp:coreProperties>
</file>